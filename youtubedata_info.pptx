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sldIdLst>
    <p:sldId id="256" r:id="rId2"/>
    <p:sldId id="257" r:id="rId3"/>
    <p:sldId id="258" r:id="rId4"/>
    <p:sldId id="261" r:id="rId5"/>
    <p:sldId id="262" r:id="rId6"/>
    <p:sldId id="264" r:id="rId7"/>
    <p:sldId id="265" r:id="rId8"/>
    <p:sldId id="263" r:id="rId9"/>
    <p:sldId id="270" r:id="rId10"/>
    <p:sldId id="269" r:id="rId11"/>
    <p:sldId id="267" r:id="rId12"/>
    <p:sldId id="268" r:id="rId13"/>
    <p:sldId id="266" r:id="rId14"/>
    <p:sldId id="259" r:id="rId15"/>
    <p:sldId id="271" r:id="rId16"/>
    <p:sldId id="260"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3A33970-F100-48F3-8198-CE6621A7C6C1}" type="datetimeFigureOut">
              <a:rPr lang="en-IN" smtClean="0"/>
              <a:t>09-07-2026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F4F7F3-CA82-4030-9A17-28E58DD16A37}" type="slidenum">
              <a:rPr lang="en-IN" smtClean="0"/>
              <a:t>‹#›</a:t>
            </a:fld>
            <a:endParaRPr lang="en-IN"/>
          </a:p>
        </p:txBody>
      </p:sp>
    </p:spTree>
    <p:extLst>
      <p:ext uri="{BB962C8B-B14F-4D97-AF65-F5344CB8AC3E}">
        <p14:creationId xmlns:p14="http://schemas.microsoft.com/office/powerpoint/2010/main" val="31211384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3A33970-F100-48F3-8198-CE6621A7C6C1}" type="datetimeFigureOut">
              <a:rPr lang="en-IN" smtClean="0"/>
              <a:t>09-07-2026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F4F7F3-CA82-4030-9A17-28E58DD16A37}" type="slidenum">
              <a:rPr lang="en-IN" smtClean="0"/>
              <a:t>‹#›</a:t>
            </a:fld>
            <a:endParaRPr lang="en-IN"/>
          </a:p>
        </p:txBody>
      </p:sp>
    </p:spTree>
    <p:extLst>
      <p:ext uri="{BB962C8B-B14F-4D97-AF65-F5344CB8AC3E}">
        <p14:creationId xmlns:p14="http://schemas.microsoft.com/office/powerpoint/2010/main" val="42216378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A33970-F100-48F3-8198-CE6621A7C6C1}" type="datetimeFigureOut">
              <a:rPr lang="en-IN" smtClean="0"/>
              <a:t>09-07-2026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F4F7F3-CA82-4030-9A17-28E58DD16A37}" type="slidenum">
              <a:rPr lang="en-IN" smtClean="0"/>
              <a:t>‹#›</a:t>
            </a:fld>
            <a:endParaRPr lang="en-IN"/>
          </a:p>
        </p:txBody>
      </p:sp>
    </p:spTree>
    <p:extLst>
      <p:ext uri="{BB962C8B-B14F-4D97-AF65-F5344CB8AC3E}">
        <p14:creationId xmlns:p14="http://schemas.microsoft.com/office/powerpoint/2010/main" val="28691896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3A33970-F100-48F3-8198-CE6621A7C6C1}" type="datetimeFigureOut">
              <a:rPr lang="en-IN" smtClean="0"/>
              <a:t>09-07-2026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F4F7F3-CA82-4030-9A17-28E58DD16A37}" type="slidenum">
              <a:rPr lang="en-IN" smtClean="0"/>
              <a:t>‹#›</a:t>
            </a:fld>
            <a:endParaRPr lang="en-IN"/>
          </a:p>
        </p:txBody>
      </p:sp>
    </p:spTree>
    <p:extLst>
      <p:ext uri="{BB962C8B-B14F-4D97-AF65-F5344CB8AC3E}">
        <p14:creationId xmlns:p14="http://schemas.microsoft.com/office/powerpoint/2010/main" val="29255573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3A33970-F100-48F3-8198-CE6621A7C6C1}" type="datetimeFigureOut">
              <a:rPr lang="en-IN" smtClean="0"/>
              <a:t>09-07-2026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F4F7F3-CA82-4030-9A17-28E58DD16A37}" type="slidenum">
              <a:rPr lang="en-IN" smtClean="0"/>
              <a:t>‹#›</a:t>
            </a:fld>
            <a:endParaRPr lang="en-IN"/>
          </a:p>
        </p:txBody>
      </p:sp>
    </p:spTree>
    <p:extLst>
      <p:ext uri="{BB962C8B-B14F-4D97-AF65-F5344CB8AC3E}">
        <p14:creationId xmlns:p14="http://schemas.microsoft.com/office/powerpoint/2010/main" val="7491084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73A33970-F100-48F3-8198-CE6621A7C6C1}" type="datetimeFigureOut">
              <a:rPr lang="en-IN" smtClean="0"/>
              <a:t>09-07-2026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A6F4F7F3-CA82-4030-9A17-28E58DD16A37}" type="slidenum">
              <a:rPr lang="en-IN" smtClean="0"/>
              <a:t>‹#›</a:t>
            </a:fld>
            <a:endParaRPr lang="en-IN"/>
          </a:p>
        </p:txBody>
      </p:sp>
    </p:spTree>
    <p:extLst>
      <p:ext uri="{BB962C8B-B14F-4D97-AF65-F5344CB8AC3E}">
        <p14:creationId xmlns:p14="http://schemas.microsoft.com/office/powerpoint/2010/main" val="35305232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73A33970-F100-48F3-8198-CE6621A7C6C1}" type="datetimeFigureOut">
              <a:rPr lang="en-IN" smtClean="0"/>
              <a:t>09-07-2026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A6F4F7F3-CA82-4030-9A17-28E58DD16A37}" type="slidenum">
              <a:rPr lang="en-IN" smtClean="0"/>
              <a:t>‹#›</a:t>
            </a:fld>
            <a:endParaRPr lang="en-IN"/>
          </a:p>
        </p:txBody>
      </p:sp>
    </p:spTree>
    <p:extLst>
      <p:ext uri="{BB962C8B-B14F-4D97-AF65-F5344CB8AC3E}">
        <p14:creationId xmlns:p14="http://schemas.microsoft.com/office/powerpoint/2010/main" val="4913472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73A33970-F100-48F3-8198-CE6621A7C6C1}" type="datetimeFigureOut">
              <a:rPr lang="en-IN" smtClean="0"/>
              <a:t>09-07-2026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A6F4F7F3-CA82-4030-9A17-28E58DD16A37}" type="slidenum">
              <a:rPr lang="en-IN" smtClean="0"/>
              <a:t>‹#›</a:t>
            </a:fld>
            <a:endParaRPr lang="en-IN"/>
          </a:p>
        </p:txBody>
      </p:sp>
    </p:spTree>
    <p:extLst>
      <p:ext uri="{BB962C8B-B14F-4D97-AF65-F5344CB8AC3E}">
        <p14:creationId xmlns:p14="http://schemas.microsoft.com/office/powerpoint/2010/main" val="16915825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3A33970-F100-48F3-8198-CE6621A7C6C1}" type="datetimeFigureOut">
              <a:rPr lang="en-IN" smtClean="0"/>
              <a:t>09-07-2026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F4F7F3-CA82-4030-9A17-28E58DD16A37}" type="slidenum">
              <a:rPr lang="en-IN" smtClean="0"/>
              <a:t>‹#›</a:t>
            </a:fld>
            <a:endParaRPr lang="en-IN"/>
          </a:p>
        </p:txBody>
      </p:sp>
    </p:spTree>
    <p:extLst>
      <p:ext uri="{BB962C8B-B14F-4D97-AF65-F5344CB8AC3E}">
        <p14:creationId xmlns:p14="http://schemas.microsoft.com/office/powerpoint/2010/main" val="13813588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3A33970-F100-48F3-8198-CE6621A7C6C1}" type="datetimeFigureOut">
              <a:rPr lang="en-IN" smtClean="0"/>
              <a:t>09-07-2026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F4F7F3-CA82-4030-9A17-28E58DD16A37}" type="slidenum">
              <a:rPr lang="en-IN" smtClean="0"/>
              <a:t>‹#›</a:t>
            </a:fld>
            <a:endParaRPr lang="en-IN"/>
          </a:p>
        </p:txBody>
      </p:sp>
    </p:spTree>
    <p:extLst>
      <p:ext uri="{BB962C8B-B14F-4D97-AF65-F5344CB8AC3E}">
        <p14:creationId xmlns:p14="http://schemas.microsoft.com/office/powerpoint/2010/main" val="26512747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73A33970-F100-48F3-8198-CE6621A7C6C1}" type="datetimeFigureOut">
              <a:rPr lang="en-IN" smtClean="0"/>
              <a:t>09-07-2026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F4F7F3-CA82-4030-9A17-28E58DD16A37}" type="slidenum">
              <a:rPr lang="en-IN" smtClean="0"/>
              <a:t>‹#›</a:t>
            </a:fld>
            <a:endParaRPr lang="en-IN"/>
          </a:p>
        </p:txBody>
      </p:sp>
    </p:spTree>
    <p:extLst>
      <p:ext uri="{BB962C8B-B14F-4D97-AF65-F5344CB8AC3E}">
        <p14:creationId xmlns:p14="http://schemas.microsoft.com/office/powerpoint/2010/main" val="34188428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385828"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73A33970-F100-48F3-8198-CE6621A7C6C1}" type="datetimeFigureOut">
              <a:rPr lang="en-IN" smtClean="0"/>
              <a:t>09-07-2026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F4F7F3-CA82-4030-9A17-28E58DD16A37}" type="slidenum">
              <a:rPr lang="en-IN" smtClean="0"/>
              <a:t>‹#›</a:t>
            </a:fld>
            <a:endParaRPr lang="en-IN"/>
          </a:p>
        </p:txBody>
      </p:sp>
      <p:sp>
        <p:nvSpPr>
          <p:cNvPr id="11" name="TextBox 10"/>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854871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5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A33970-F100-48F3-8198-CE6621A7C6C1}" type="datetimeFigureOut">
              <a:rPr lang="en-IN" smtClean="0"/>
              <a:t>09-07-2026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F4F7F3-CA82-4030-9A17-28E58DD16A37}" type="slidenum">
              <a:rPr lang="en-IN" smtClean="0"/>
              <a:t>‹#›</a:t>
            </a:fld>
            <a:endParaRPr lang="en-IN"/>
          </a:p>
        </p:txBody>
      </p:sp>
    </p:spTree>
    <p:extLst>
      <p:ext uri="{BB962C8B-B14F-4D97-AF65-F5344CB8AC3E}">
        <p14:creationId xmlns:p14="http://schemas.microsoft.com/office/powerpoint/2010/main" val="10821355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3A33970-F100-48F3-8198-CE6621A7C6C1}" type="datetimeFigureOut">
              <a:rPr lang="en-IN" smtClean="0"/>
              <a:t>09-07-2026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F4F7F3-CA82-4030-9A17-28E58DD16A37}" type="slidenum">
              <a:rPr lang="en-IN" smtClean="0"/>
              <a:t>‹#›</a:t>
            </a:fld>
            <a:endParaRPr lang="en-IN"/>
          </a:p>
        </p:txBody>
      </p:sp>
    </p:spTree>
    <p:extLst>
      <p:ext uri="{BB962C8B-B14F-4D97-AF65-F5344CB8AC3E}">
        <p14:creationId xmlns:p14="http://schemas.microsoft.com/office/powerpoint/2010/main" val="7340156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3A33970-F100-48F3-8198-CE6621A7C6C1}" type="datetimeFigureOut">
              <a:rPr lang="en-IN" smtClean="0"/>
              <a:t>09-07-2026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F4F7F3-CA82-4030-9A17-28E58DD16A37}" type="slidenum">
              <a:rPr lang="en-IN" smtClean="0"/>
              <a:t>‹#›</a:t>
            </a:fld>
            <a:endParaRPr lang="en-IN"/>
          </a:p>
        </p:txBody>
      </p:sp>
    </p:spTree>
    <p:extLst>
      <p:ext uri="{BB962C8B-B14F-4D97-AF65-F5344CB8AC3E}">
        <p14:creationId xmlns:p14="http://schemas.microsoft.com/office/powerpoint/2010/main" val="20708737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A33970-F100-48F3-8198-CE6621A7C6C1}" type="datetimeFigureOut">
              <a:rPr lang="en-IN" smtClean="0"/>
              <a:t>09-07-2026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F4F7F3-CA82-4030-9A17-28E58DD16A37}" type="slidenum">
              <a:rPr lang="en-IN" smtClean="0"/>
              <a:t>‹#›</a:t>
            </a:fld>
            <a:endParaRPr lang="en-IN"/>
          </a:p>
        </p:txBody>
      </p:sp>
    </p:spTree>
    <p:extLst>
      <p:ext uri="{BB962C8B-B14F-4D97-AF65-F5344CB8AC3E}">
        <p14:creationId xmlns:p14="http://schemas.microsoft.com/office/powerpoint/2010/main" val="3063951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A33970-F100-48F3-8198-CE6621A7C6C1}" type="datetimeFigureOut">
              <a:rPr lang="en-IN" smtClean="0"/>
              <a:t>09-07-2026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F4F7F3-CA82-4030-9A17-28E58DD16A37}" type="slidenum">
              <a:rPr lang="en-IN" smtClean="0"/>
              <a:t>‹#›</a:t>
            </a:fld>
            <a:endParaRPr lang="en-IN"/>
          </a:p>
        </p:txBody>
      </p:sp>
    </p:spTree>
    <p:extLst>
      <p:ext uri="{BB962C8B-B14F-4D97-AF65-F5344CB8AC3E}">
        <p14:creationId xmlns:p14="http://schemas.microsoft.com/office/powerpoint/2010/main" val="35907501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713"/>
          <a:stretch/>
        </p:blipFill>
        <p:spPr>
          <a:xfrm>
            <a:off x="8000197" y="0"/>
            <a:ext cx="1603387" cy="1143000"/>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4199"/>
          <a:stretch/>
        </p:blipFill>
        <p:spPr>
          <a:xfrm>
            <a:off x="8609012" y="6092866"/>
            <a:ext cx="993734" cy="765134"/>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73A33970-F100-48F3-8198-CE6621A7C6C1}" type="datetimeFigureOut">
              <a:rPr lang="en-IN" smtClean="0"/>
              <a:t>09-07-2026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A6F4F7F3-CA82-4030-9A17-28E58DD16A37}" type="slidenum">
              <a:rPr lang="en-IN" smtClean="0"/>
              <a:t>‹#›</a:t>
            </a:fld>
            <a:endParaRPr lang="en-IN"/>
          </a:p>
        </p:txBody>
      </p:sp>
    </p:spTree>
    <p:extLst>
      <p:ext uri="{BB962C8B-B14F-4D97-AF65-F5344CB8AC3E}">
        <p14:creationId xmlns:p14="http://schemas.microsoft.com/office/powerpoint/2010/main" val="4169377542"/>
      </p:ext>
    </p:extLst>
  </p:cSld>
  <p:clrMap bg1="dk1" tx1="lt1" bg2="dk2" tx2="lt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B6D84-0258-1CBB-35F5-BB0C805F5A1C}"/>
              </a:ext>
            </a:extLst>
          </p:cNvPr>
          <p:cNvSpPr>
            <a:spLocks noGrp="1"/>
          </p:cNvSpPr>
          <p:nvPr>
            <p:ph type="ctrTitle"/>
          </p:nvPr>
        </p:nvSpPr>
        <p:spPr>
          <a:xfrm>
            <a:off x="1136667" y="1335024"/>
            <a:ext cx="9433797" cy="3849625"/>
          </a:xfrm>
        </p:spPr>
        <p:txBody>
          <a:bodyPr/>
          <a:lstStyle/>
          <a:p>
            <a:r>
              <a:rPr lang="en-IN" sz="6000" dirty="0"/>
              <a:t>Media &amp; Technology - real time data of YouTube and its content creators</a:t>
            </a:r>
          </a:p>
        </p:txBody>
      </p:sp>
    </p:spTree>
    <p:extLst>
      <p:ext uri="{BB962C8B-B14F-4D97-AF65-F5344CB8AC3E}">
        <p14:creationId xmlns:p14="http://schemas.microsoft.com/office/powerpoint/2010/main" val="30547958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848A3-9870-056A-D3E0-4CC3F8840613}"/>
              </a:ext>
            </a:extLst>
          </p:cNvPr>
          <p:cNvSpPr>
            <a:spLocks noGrp="1"/>
          </p:cNvSpPr>
          <p:nvPr>
            <p:ph type="title"/>
          </p:nvPr>
        </p:nvSpPr>
        <p:spPr>
          <a:xfrm>
            <a:off x="645130" y="900774"/>
            <a:ext cx="9404723" cy="1037754"/>
          </a:xfrm>
        </p:spPr>
        <p:txBody>
          <a:bodyPr/>
          <a:lstStyle/>
          <a:p>
            <a:r>
              <a:rPr lang="en-IN" dirty="0"/>
              <a:t>Introduction</a:t>
            </a:r>
          </a:p>
        </p:txBody>
      </p:sp>
      <p:sp>
        <p:nvSpPr>
          <p:cNvPr id="3" name="Content Placeholder 2">
            <a:extLst>
              <a:ext uri="{FF2B5EF4-FFF2-40B4-BE49-F238E27FC236}">
                <a16:creationId xmlns:a16="http://schemas.microsoft.com/office/drawing/2014/main" id="{9DDABE3C-AF49-4929-2720-2A2A0FA73724}"/>
              </a:ext>
            </a:extLst>
          </p:cNvPr>
          <p:cNvSpPr>
            <a:spLocks noGrp="1"/>
          </p:cNvSpPr>
          <p:nvPr>
            <p:ph idx="1"/>
          </p:nvPr>
        </p:nvSpPr>
        <p:spPr/>
        <p:txBody>
          <a:bodyPr>
            <a:normAutofit/>
          </a:bodyPr>
          <a:lstStyle/>
          <a:p>
            <a:r>
              <a:rPr lang="en-IN" dirty="0"/>
              <a:t>This project is based on the Media &amp; Technology industry, where I </a:t>
            </a:r>
            <a:r>
              <a:rPr lang="en-IN" dirty="0" err="1"/>
              <a:t>analyzed</a:t>
            </a:r>
            <a:r>
              <a:rPr lang="en-IN" dirty="0"/>
              <a:t> real‑time YouTube data of different content creators. </a:t>
            </a:r>
          </a:p>
          <a:p>
            <a:r>
              <a:rPr lang="en-IN" dirty="0"/>
              <a:t>The goal was to understand how various factors like subscribers, views, uploads, and earnings differ across countries and categories. Using the dataset provided, I explored patterns and relationships to gain insights into what drives success on YouTube. </a:t>
            </a:r>
          </a:p>
          <a:p>
            <a:r>
              <a:rPr lang="en-IN" dirty="0"/>
              <a:t>This helped me learn how data can reveal trends in digital media and audience engagement.</a:t>
            </a:r>
          </a:p>
          <a:p>
            <a:r>
              <a:rPr lang="en-IN" dirty="0"/>
              <a:t>Using the lectures from multiple videos I have completed this project using Google </a:t>
            </a:r>
            <a:r>
              <a:rPr lang="en-IN" dirty="0" err="1"/>
              <a:t>Colab</a:t>
            </a:r>
            <a:r>
              <a:rPr lang="en-IN" dirty="0"/>
              <a:t>. </a:t>
            </a:r>
          </a:p>
        </p:txBody>
      </p:sp>
    </p:spTree>
    <p:extLst>
      <p:ext uri="{BB962C8B-B14F-4D97-AF65-F5344CB8AC3E}">
        <p14:creationId xmlns:p14="http://schemas.microsoft.com/office/powerpoint/2010/main" val="18259352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381D9-7519-DF0D-C7A0-19A24D8E5D47}"/>
              </a:ext>
            </a:extLst>
          </p:cNvPr>
          <p:cNvSpPr>
            <a:spLocks noGrp="1"/>
          </p:cNvSpPr>
          <p:nvPr>
            <p:ph type="title"/>
          </p:nvPr>
        </p:nvSpPr>
        <p:spPr>
          <a:xfrm>
            <a:off x="691831" y="653886"/>
            <a:ext cx="9404723" cy="690282"/>
          </a:xfrm>
        </p:spPr>
        <p:txBody>
          <a:bodyPr/>
          <a:lstStyle/>
          <a:p>
            <a:r>
              <a:rPr lang="en-IN" dirty="0"/>
              <a:t>Steps taken</a:t>
            </a:r>
          </a:p>
        </p:txBody>
      </p:sp>
      <p:sp>
        <p:nvSpPr>
          <p:cNvPr id="3" name="Content Placeholder 2">
            <a:extLst>
              <a:ext uri="{FF2B5EF4-FFF2-40B4-BE49-F238E27FC236}">
                <a16:creationId xmlns:a16="http://schemas.microsoft.com/office/drawing/2014/main" id="{84D69E93-D9D6-4D41-F9F1-F057590463A5}"/>
              </a:ext>
            </a:extLst>
          </p:cNvPr>
          <p:cNvSpPr>
            <a:spLocks noGrp="1"/>
          </p:cNvSpPr>
          <p:nvPr>
            <p:ph idx="1"/>
          </p:nvPr>
        </p:nvSpPr>
        <p:spPr>
          <a:xfrm>
            <a:off x="1295336" y="1851750"/>
            <a:ext cx="8946541" cy="4195481"/>
          </a:xfrm>
        </p:spPr>
        <p:txBody>
          <a:bodyPr>
            <a:normAutofit fontScale="92500" lnSpcReduction="20000"/>
          </a:bodyPr>
          <a:lstStyle/>
          <a:p>
            <a:r>
              <a:rPr lang="en-IN" dirty="0"/>
              <a:t>Loaded the YouTube dataset in Python using pandas.</a:t>
            </a:r>
          </a:p>
          <a:p>
            <a:r>
              <a:rPr lang="en-IN" dirty="0"/>
              <a:t>Cleaned missing and invalid data for accurate results.</a:t>
            </a:r>
          </a:p>
          <a:p>
            <a:r>
              <a:rPr lang="en-IN" dirty="0"/>
              <a:t>Converted columns like subscribers, views, and earnings into numeric format.</a:t>
            </a:r>
          </a:p>
          <a:p>
            <a:r>
              <a:rPr lang="en-IN" dirty="0"/>
              <a:t>Explored data using descriptive statistics and visualizations.</a:t>
            </a:r>
          </a:p>
          <a:p>
            <a:r>
              <a:rPr lang="en-IN" dirty="0"/>
              <a:t>Found top channels, categories, and countries based on subscribers and views.</a:t>
            </a:r>
          </a:p>
          <a:p>
            <a:r>
              <a:rPr lang="en-IN" dirty="0"/>
              <a:t>Checked correlations between subscribers, views, uploads, and earnings.</a:t>
            </a:r>
          </a:p>
          <a:p>
            <a:r>
              <a:rPr lang="en-IN" dirty="0" err="1"/>
              <a:t>Analyzed</a:t>
            </a:r>
            <a:r>
              <a:rPr lang="en-IN" dirty="0"/>
              <a:t> growth trends in subscribers gained in the last 30 days.</a:t>
            </a:r>
          </a:p>
          <a:p>
            <a:r>
              <a:rPr lang="en-IN" dirty="0"/>
              <a:t>Compared country‑level factors like population, education, and unemployment.</a:t>
            </a:r>
          </a:p>
          <a:p>
            <a:r>
              <a:rPr lang="en-IN" dirty="0"/>
              <a:t>Visualized results using bar charts, scatter plots, and boxplots.</a:t>
            </a:r>
          </a:p>
        </p:txBody>
      </p:sp>
    </p:spTree>
    <p:extLst>
      <p:ext uri="{BB962C8B-B14F-4D97-AF65-F5344CB8AC3E}">
        <p14:creationId xmlns:p14="http://schemas.microsoft.com/office/powerpoint/2010/main" val="22034002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F554A-460B-B3F0-880B-17FEE49B8E90}"/>
              </a:ext>
            </a:extLst>
          </p:cNvPr>
          <p:cNvSpPr>
            <a:spLocks noGrp="1"/>
          </p:cNvSpPr>
          <p:nvPr>
            <p:ph type="title"/>
          </p:nvPr>
        </p:nvSpPr>
        <p:spPr/>
        <p:txBody>
          <a:bodyPr/>
          <a:lstStyle/>
          <a:p>
            <a:r>
              <a:rPr lang="en-IN" dirty="0"/>
              <a:t>Questions solved</a:t>
            </a:r>
          </a:p>
        </p:txBody>
      </p:sp>
      <p:sp>
        <p:nvSpPr>
          <p:cNvPr id="3" name="Content Placeholder 2">
            <a:extLst>
              <a:ext uri="{FF2B5EF4-FFF2-40B4-BE49-F238E27FC236}">
                <a16:creationId xmlns:a16="http://schemas.microsoft.com/office/drawing/2014/main" id="{90F008BC-DB1A-AD8A-0387-99EC7B9F5878}"/>
              </a:ext>
            </a:extLst>
          </p:cNvPr>
          <p:cNvSpPr>
            <a:spLocks noGrp="1"/>
          </p:cNvSpPr>
          <p:nvPr>
            <p:ph sz="half" idx="1"/>
          </p:nvPr>
        </p:nvSpPr>
        <p:spPr>
          <a:xfrm>
            <a:off x="1018344" y="1564513"/>
            <a:ext cx="4886260" cy="4195763"/>
          </a:xfrm>
        </p:spPr>
        <p:txBody>
          <a:bodyPr/>
          <a:lstStyle/>
          <a:p>
            <a:pPr lvl="0"/>
            <a:r>
              <a:rPr lang="en-US" dirty="0"/>
              <a:t>What are the top 10 YouTube channels based on the number of subscribers?</a:t>
            </a:r>
            <a:endParaRPr lang="en-IN" dirty="0"/>
          </a:p>
        </p:txBody>
      </p:sp>
      <p:sp>
        <p:nvSpPr>
          <p:cNvPr id="6" name="Content Placeholder 5">
            <a:extLst>
              <a:ext uri="{FF2B5EF4-FFF2-40B4-BE49-F238E27FC236}">
                <a16:creationId xmlns:a16="http://schemas.microsoft.com/office/drawing/2014/main" id="{2C73A026-1EAD-DA97-9995-D842A7AE3F42}"/>
              </a:ext>
            </a:extLst>
          </p:cNvPr>
          <p:cNvSpPr>
            <a:spLocks noGrp="1"/>
          </p:cNvSpPr>
          <p:nvPr>
            <p:ph sz="half" idx="2"/>
          </p:nvPr>
        </p:nvSpPr>
        <p:spPr>
          <a:xfrm>
            <a:off x="6627425" y="1545126"/>
            <a:ext cx="5278248" cy="4200245"/>
          </a:xfrm>
        </p:spPr>
        <p:txBody>
          <a:bodyPr/>
          <a:lstStyle/>
          <a:p>
            <a:r>
              <a:rPr lang="en-US" dirty="0"/>
              <a:t>Which category has the highest average number of subscribers?</a:t>
            </a:r>
            <a:endParaRPr lang="en-IN" dirty="0"/>
          </a:p>
        </p:txBody>
      </p:sp>
      <p:pic>
        <p:nvPicPr>
          <p:cNvPr id="5" name="Picture 4">
            <a:extLst>
              <a:ext uri="{FF2B5EF4-FFF2-40B4-BE49-F238E27FC236}">
                <a16:creationId xmlns:a16="http://schemas.microsoft.com/office/drawing/2014/main" id="{6F55D474-879E-2C20-0BF8-7DA828F2AFDE}"/>
              </a:ext>
            </a:extLst>
          </p:cNvPr>
          <p:cNvPicPr>
            <a:picLocks noChangeAspect="1"/>
          </p:cNvPicPr>
          <p:nvPr/>
        </p:nvPicPr>
        <p:blipFill>
          <a:blip r:embed="rId2"/>
          <a:stretch>
            <a:fillRect/>
          </a:stretch>
        </p:blipFill>
        <p:spPr>
          <a:xfrm>
            <a:off x="1346629" y="2489825"/>
            <a:ext cx="4229690" cy="3448531"/>
          </a:xfrm>
          <a:prstGeom prst="rect">
            <a:avLst/>
          </a:prstGeom>
        </p:spPr>
      </p:pic>
      <p:pic>
        <p:nvPicPr>
          <p:cNvPr id="9" name="Picture 8">
            <a:extLst>
              <a:ext uri="{FF2B5EF4-FFF2-40B4-BE49-F238E27FC236}">
                <a16:creationId xmlns:a16="http://schemas.microsoft.com/office/drawing/2014/main" id="{66FD052F-0AC5-9150-180F-63FE81034DB7}"/>
              </a:ext>
            </a:extLst>
          </p:cNvPr>
          <p:cNvPicPr>
            <a:picLocks noChangeAspect="1"/>
          </p:cNvPicPr>
          <p:nvPr/>
        </p:nvPicPr>
        <p:blipFill>
          <a:blip r:embed="rId3"/>
          <a:stretch>
            <a:fillRect/>
          </a:stretch>
        </p:blipFill>
        <p:spPr>
          <a:xfrm>
            <a:off x="7918873" y="2646623"/>
            <a:ext cx="2210108" cy="1152686"/>
          </a:xfrm>
          <a:prstGeom prst="rect">
            <a:avLst/>
          </a:prstGeom>
        </p:spPr>
      </p:pic>
    </p:spTree>
    <p:extLst>
      <p:ext uri="{BB962C8B-B14F-4D97-AF65-F5344CB8AC3E}">
        <p14:creationId xmlns:p14="http://schemas.microsoft.com/office/powerpoint/2010/main" val="19566979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6A309F-57AE-8077-2378-41552359DFA8}"/>
              </a:ext>
            </a:extLst>
          </p:cNvPr>
          <p:cNvSpPr>
            <a:spLocks noGrp="1"/>
          </p:cNvSpPr>
          <p:nvPr>
            <p:ph sz="half" idx="1"/>
          </p:nvPr>
        </p:nvSpPr>
        <p:spPr>
          <a:xfrm>
            <a:off x="558367" y="1099127"/>
            <a:ext cx="5463743" cy="5166447"/>
          </a:xfrm>
        </p:spPr>
        <p:txBody>
          <a:bodyPr/>
          <a:lstStyle/>
          <a:p>
            <a:r>
              <a:rPr lang="en-US" dirty="0"/>
              <a:t>How many videos, on average, are uploaded by YouTube channels in each category?</a:t>
            </a:r>
            <a:endParaRPr lang="en-IN" dirty="0"/>
          </a:p>
          <a:p>
            <a:pPr marL="0" indent="0">
              <a:buNone/>
            </a:pPr>
            <a:endParaRPr lang="en-IN" dirty="0"/>
          </a:p>
        </p:txBody>
      </p:sp>
      <p:sp>
        <p:nvSpPr>
          <p:cNvPr id="4" name="Content Placeholder 3">
            <a:extLst>
              <a:ext uri="{FF2B5EF4-FFF2-40B4-BE49-F238E27FC236}">
                <a16:creationId xmlns:a16="http://schemas.microsoft.com/office/drawing/2014/main" id="{4939078C-9CB5-6477-CFCC-26D1DE226945}"/>
              </a:ext>
            </a:extLst>
          </p:cNvPr>
          <p:cNvSpPr>
            <a:spLocks noGrp="1"/>
          </p:cNvSpPr>
          <p:nvPr>
            <p:ph sz="half" idx="2"/>
          </p:nvPr>
        </p:nvSpPr>
        <p:spPr>
          <a:xfrm>
            <a:off x="6238085" y="1099126"/>
            <a:ext cx="5463742" cy="5166447"/>
          </a:xfrm>
        </p:spPr>
        <p:txBody>
          <a:bodyPr/>
          <a:lstStyle/>
          <a:p>
            <a:r>
              <a:rPr lang="en-US" dirty="0"/>
              <a:t>What are the top 5 countries with the highest number of YouTube channels?</a:t>
            </a:r>
            <a:endParaRPr lang="en-IN" dirty="0"/>
          </a:p>
          <a:p>
            <a:pPr marL="0" indent="0">
              <a:buNone/>
            </a:pPr>
            <a:endParaRPr lang="en-IN" b="1" dirty="0"/>
          </a:p>
        </p:txBody>
      </p:sp>
      <p:pic>
        <p:nvPicPr>
          <p:cNvPr id="6" name="Picture 5">
            <a:extLst>
              <a:ext uri="{FF2B5EF4-FFF2-40B4-BE49-F238E27FC236}">
                <a16:creationId xmlns:a16="http://schemas.microsoft.com/office/drawing/2014/main" id="{43287008-86B1-E4CC-BECD-A6C64D1DE3CC}"/>
              </a:ext>
            </a:extLst>
          </p:cNvPr>
          <p:cNvPicPr>
            <a:picLocks noChangeAspect="1"/>
          </p:cNvPicPr>
          <p:nvPr/>
        </p:nvPicPr>
        <p:blipFill>
          <a:blip r:embed="rId2"/>
          <a:stretch>
            <a:fillRect/>
          </a:stretch>
        </p:blipFill>
        <p:spPr>
          <a:xfrm>
            <a:off x="2020075" y="2181047"/>
            <a:ext cx="2159343" cy="3850299"/>
          </a:xfrm>
          <a:prstGeom prst="rect">
            <a:avLst/>
          </a:prstGeom>
        </p:spPr>
      </p:pic>
      <p:pic>
        <p:nvPicPr>
          <p:cNvPr id="8" name="Picture 7">
            <a:extLst>
              <a:ext uri="{FF2B5EF4-FFF2-40B4-BE49-F238E27FC236}">
                <a16:creationId xmlns:a16="http://schemas.microsoft.com/office/drawing/2014/main" id="{A37BED9F-4AEC-B84A-1D4A-59501D46B3A2}"/>
              </a:ext>
            </a:extLst>
          </p:cNvPr>
          <p:cNvPicPr>
            <a:picLocks noChangeAspect="1"/>
          </p:cNvPicPr>
          <p:nvPr/>
        </p:nvPicPr>
        <p:blipFill>
          <a:blip r:embed="rId3"/>
          <a:stretch>
            <a:fillRect/>
          </a:stretch>
        </p:blipFill>
        <p:spPr>
          <a:xfrm>
            <a:off x="8188797" y="2445054"/>
            <a:ext cx="1562318" cy="1838582"/>
          </a:xfrm>
          <a:prstGeom prst="rect">
            <a:avLst/>
          </a:prstGeom>
        </p:spPr>
      </p:pic>
    </p:spTree>
    <p:extLst>
      <p:ext uri="{BB962C8B-B14F-4D97-AF65-F5344CB8AC3E}">
        <p14:creationId xmlns:p14="http://schemas.microsoft.com/office/powerpoint/2010/main" val="11310482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6E0BC-7D85-764D-D997-EFE9B91EB0C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E3BED7-7C16-4F1F-487D-4E98E3EC3852}"/>
              </a:ext>
            </a:extLst>
          </p:cNvPr>
          <p:cNvSpPr>
            <a:spLocks noGrp="1"/>
          </p:cNvSpPr>
          <p:nvPr>
            <p:ph sz="half" idx="1"/>
          </p:nvPr>
        </p:nvSpPr>
        <p:spPr>
          <a:xfrm>
            <a:off x="558367" y="1099127"/>
            <a:ext cx="5463743" cy="5166447"/>
          </a:xfrm>
        </p:spPr>
        <p:txBody>
          <a:bodyPr/>
          <a:lstStyle/>
          <a:p>
            <a:r>
              <a:rPr lang="en-US" dirty="0"/>
              <a:t>What is the distribution of channel types across different categories?</a:t>
            </a:r>
            <a:endParaRPr lang="en-IN" dirty="0"/>
          </a:p>
        </p:txBody>
      </p:sp>
      <p:sp>
        <p:nvSpPr>
          <p:cNvPr id="4" name="Content Placeholder 3">
            <a:extLst>
              <a:ext uri="{FF2B5EF4-FFF2-40B4-BE49-F238E27FC236}">
                <a16:creationId xmlns:a16="http://schemas.microsoft.com/office/drawing/2014/main" id="{08481DA7-5E35-80BE-EAEA-9F79467E6303}"/>
              </a:ext>
            </a:extLst>
          </p:cNvPr>
          <p:cNvSpPr>
            <a:spLocks noGrp="1"/>
          </p:cNvSpPr>
          <p:nvPr>
            <p:ph sz="half" idx="2"/>
          </p:nvPr>
        </p:nvSpPr>
        <p:spPr>
          <a:xfrm>
            <a:off x="6238085" y="1099126"/>
            <a:ext cx="5463742" cy="5166447"/>
          </a:xfrm>
        </p:spPr>
        <p:txBody>
          <a:bodyPr/>
          <a:lstStyle/>
          <a:p>
            <a:r>
              <a:rPr lang="en-US" dirty="0"/>
              <a:t>Is there a correlation between the number of subscribers and total video views for YouTube channels?</a:t>
            </a:r>
            <a:endParaRPr lang="en-IN" dirty="0"/>
          </a:p>
        </p:txBody>
      </p:sp>
      <p:pic>
        <p:nvPicPr>
          <p:cNvPr id="5" name="Picture 4">
            <a:extLst>
              <a:ext uri="{FF2B5EF4-FFF2-40B4-BE49-F238E27FC236}">
                <a16:creationId xmlns:a16="http://schemas.microsoft.com/office/drawing/2014/main" id="{EA88FC7E-0D44-31DE-4CA9-5E9AB2BABAC1}"/>
              </a:ext>
            </a:extLst>
          </p:cNvPr>
          <p:cNvPicPr>
            <a:picLocks noChangeAspect="1"/>
          </p:cNvPicPr>
          <p:nvPr/>
        </p:nvPicPr>
        <p:blipFill>
          <a:blip r:embed="rId2"/>
          <a:stretch>
            <a:fillRect/>
          </a:stretch>
        </p:blipFill>
        <p:spPr>
          <a:xfrm>
            <a:off x="970985" y="2099289"/>
            <a:ext cx="4244289" cy="3054602"/>
          </a:xfrm>
          <a:prstGeom prst="rect">
            <a:avLst/>
          </a:prstGeom>
        </p:spPr>
      </p:pic>
      <p:pic>
        <p:nvPicPr>
          <p:cNvPr id="7" name="Picture 6">
            <a:extLst>
              <a:ext uri="{FF2B5EF4-FFF2-40B4-BE49-F238E27FC236}">
                <a16:creationId xmlns:a16="http://schemas.microsoft.com/office/drawing/2014/main" id="{A6844545-B7B5-EBF5-B323-B780F46FC001}"/>
              </a:ext>
            </a:extLst>
          </p:cNvPr>
          <p:cNvPicPr>
            <a:picLocks noChangeAspect="1"/>
          </p:cNvPicPr>
          <p:nvPr/>
        </p:nvPicPr>
        <p:blipFill>
          <a:blip r:embed="rId3"/>
          <a:stretch>
            <a:fillRect/>
          </a:stretch>
        </p:blipFill>
        <p:spPr>
          <a:xfrm>
            <a:off x="7116547" y="2101598"/>
            <a:ext cx="3953263" cy="3283359"/>
          </a:xfrm>
          <a:prstGeom prst="rect">
            <a:avLst/>
          </a:prstGeom>
        </p:spPr>
      </p:pic>
    </p:spTree>
    <p:extLst>
      <p:ext uri="{BB962C8B-B14F-4D97-AF65-F5344CB8AC3E}">
        <p14:creationId xmlns:p14="http://schemas.microsoft.com/office/powerpoint/2010/main" val="2384503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9C9E0-35B5-C3A5-2B27-5F507EE5CC2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893BEC-DF30-0623-D0E0-3EC25EF1F2F8}"/>
              </a:ext>
            </a:extLst>
          </p:cNvPr>
          <p:cNvSpPr>
            <a:spLocks noGrp="1"/>
          </p:cNvSpPr>
          <p:nvPr>
            <p:ph sz="half" idx="1"/>
          </p:nvPr>
        </p:nvSpPr>
        <p:spPr>
          <a:xfrm>
            <a:off x="558367" y="1099127"/>
            <a:ext cx="5463743" cy="5166447"/>
          </a:xfrm>
        </p:spPr>
        <p:txBody>
          <a:bodyPr/>
          <a:lstStyle/>
          <a:p>
            <a:r>
              <a:rPr lang="en-US" dirty="0"/>
              <a:t>How do the monthly earnings vary throughout different categories?</a:t>
            </a:r>
            <a:endParaRPr lang="en-IN" dirty="0"/>
          </a:p>
        </p:txBody>
      </p:sp>
      <p:sp>
        <p:nvSpPr>
          <p:cNvPr id="4" name="Content Placeholder 3">
            <a:extLst>
              <a:ext uri="{FF2B5EF4-FFF2-40B4-BE49-F238E27FC236}">
                <a16:creationId xmlns:a16="http://schemas.microsoft.com/office/drawing/2014/main" id="{931AF027-FC81-53F7-6FB1-DAB5BA7E810A}"/>
              </a:ext>
            </a:extLst>
          </p:cNvPr>
          <p:cNvSpPr>
            <a:spLocks noGrp="1"/>
          </p:cNvSpPr>
          <p:nvPr>
            <p:ph sz="half" idx="2"/>
          </p:nvPr>
        </p:nvSpPr>
        <p:spPr>
          <a:xfrm>
            <a:off x="6238085" y="1099126"/>
            <a:ext cx="5463742" cy="5166447"/>
          </a:xfrm>
        </p:spPr>
        <p:txBody>
          <a:bodyPr/>
          <a:lstStyle/>
          <a:p>
            <a:r>
              <a:rPr lang="en-US" dirty="0"/>
              <a:t>What is the overall trend in subscribers gained in the last 30 days across all channels?</a:t>
            </a:r>
            <a:endParaRPr lang="en-IN" dirty="0"/>
          </a:p>
        </p:txBody>
      </p:sp>
      <p:pic>
        <p:nvPicPr>
          <p:cNvPr id="5" name="Picture 4">
            <a:extLst>
              <a:ext uri="{FF2B5EF4-FFF2-40B4-BE49-F238E27FC236}">
                <a16:creationId xmlns:a16="http://schemas.microsoft.com/office/drawing/2014/main" id="{75E19558-1EB5-FD20-EEE4-4A3BA00214B7}"/>
              </a:ext>
            </a:extLst>
          </p:cNvPr>
          <p:cNvPicPr>
            <a:picLocks noChangeAspect="1"/>
          </p:cNvPicPr>
          <p:nvPr/>
        </p:nvPicPr>
        <p:blipFill>
          <a:blip r:embed="rId2"/>
          <a:stretch>
            <a:fillRect/>
          </a:stretch>
        </p:blipFill>
        <p:spPr>
          <a:xfrm>
            <a:off x="1330036" y="1973787"/>
            <a:ext cx="3493963" cy="3862937"/>
          </a:xfrm>
          <a:prstGeom prst="rect">
            <a:avLst/>
          </a:prstGeom>
        </p:spPr>
      </p:pic>
      <p:pic>
        <p:nvPicPr>
          <p:cNvPr id="7" name="Picture 6">
            <a:extLst>
              <a:ext uri="{FF2B5EF4-FFF2-40B4-BE49-F238E27FC236}">
                <a16:creationId xmlns:a16="http://schemas.microsoft.com/office/drawing/2014/main" id="{35400EAA-3612-684D-6232-F6D8F3F649D0}"/>
              </a:ext>
            </a:extLst>
          </p:cNvPr>
          <p:cNvPicPr>
            <a:picLocks noChangeAspect="1"/>
          </p:cNvPicPr>
          <p:nvPr/>
        </p:nvPicPr>
        <p:blipFill>
          <a:blip r:embed="rId3"/>
          <a:stretch>
            <a:fillRect/>
          </a:stretch>
        </p:blipFill>
        <p:spPr>
          <a:xfrm>
            <a:off x="6864039" y="2504327"/>
            <a:ext cx="3672170" cy="823073"/>
          </a:xfrm>
          <a:prstGeom prst="rect">
            <a:avLst/>
          </a:prstGeom>
        </p:spPr>
      </p:pic>
    </p:spTree>
    <p:extLst>
      <p:ext uri="{BB962C8B-B14F-4D97-AF65-F5344CB8AC3E}">
        <p14:creationId xmlns:p14="http://schemas.microsoft.com/office/powerpoint/2010/main" val="11696812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888FB-39A8-C53E-CD7D-22F27D024C3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8592DD-2070-49F4-DA28-DA3B1706BE58}"/>
              </a:ext>
            </a:extLst>
          </p:cNvPr>
          <p:cNvSpPr>
            <a:spLocks noGrp="1"/>
          </p:cNvSpPr>
          <p:nvPr>
            <p:ph sz="half" idx="1"/>
          </p:nvPr>
        </p:nvSpPr>
        <p:spPr>
          <a:xfrm>
            <a:off x="558367" y="1099127"/>
            <a:ext cx="5463743" cy="5166447"/>
          </a:xfrm>
        </p:spPr>
        <p:txBody>
          <a:bodyPr/>
          <a:lstStyle/>
          <a:p>
            <a:r>
              <a:rPr lang="en-US" dirty="0"/>
              <a:t>Are there any outliers in terms of yearly earnings from YouTube channels?</a:t>
            </a:r>
            <a:endParaRPr lang="en-IN" dirty="0"/>
          </a:p>
          <a:p>
            <a:endParaRPr lang="en-IN" dirty="0"/>
          </a:p>
        </p:txBody>
      </p:sp>
      <p:sp>
        <p:nvSpPr>
          <p:cNvPr id="4" name="Content Placeholder 3">
            <a:extLst>
              <a:ext uri="{FF2B5EF4-FFF2-40B4-BE49-F238E27FC236}">
                <a16:creationId xmlns:a16="http://schemas.microsoft.com/office/drawing/2014/main" id="{89168FA0-D512-1156-0796-51506E162A01}"/>
              </a:ext>
            </a:extLst>
          </p:cNvPr>
          <p:cNvSpPr>
            <a:spLocks noGrp="1"/>
          </p:cNvSpPr>
          <p:nvPr>
            <p:ph sz="half" idx="2"/>
          </p:nvPr>
        </p:nvSpPr>
        <p:spPr>
          <a:xfrm>
            <a:off x="6238085" y="1099126"/>
            <a:ext cx="5463742" cy="5166447"/>
          </a:xfrm>
        </p:spPr>
        <p:txBody>
          <a:bodyPr/>
          <a:lstStyle/>
          <a:p>
            <a:r>
              <a:rPr lang="en-US" dirty="0"/>
              <a:t>What is the distribution of channel creation dates? Is there any trend over time?</a:t>
            </a:r>
            <a:endParaRPr lang="en-IN" dirty="0"/>
          </a:p>
          <a:p>
            <a:pPr marL="0" indent="0">
              <a:buNone/>
            </a:pPr>
            <a:endParaRPr lang="en-IN" dirty="0"/>
          </a:p>
        </p:txBody>
      </p:sp>
      <p:pic>
        <p:nvPicPr>
          <p:cNvPr id="5" name="Picture 4">
            <a:extLst>
              <a:ext uri="{FF2B5EF4-FFF2-40B4-BE49-F238E27FC236}">
                <a16:creationId xmlns:a16="http://schemas.microsoft.com/office/drawing/2014/main" id="{BD63E798-B332-64C0-5AB9-F10AA9141D46}"/>
              </a:ext>
            </a:extLst>
          </p:cNvPr>
          <p:cNvPicPr>
            <a:picLocks noChangeAspect="1"/>
          </p:cNvPicPr>
          <p:nvPr/>
        </p:nvPicPr>
        <p:blipFill>
          <a:blip r:embed="rId2"/>
          <a:stretch>
            <a:fillRect/>
          </a:stretch>
        </p:blipFill>
        <p:spPr>
          <a:xfrm>
            <a:off x="1017732" y="1917583"/>
            <a:ext cx="4134427" cy="3724795"/>
          </a:xfrm>
          <a:prstGeom prst="rect">
            <a:avLst/>
          </a:prstGeom>
        </p:spPr>
      </p:pic>
      <p:pic>
        <p:nvPicPr>
          <p:cNvPr id="7" name="Picture 6">
            <a:extLst>
              <a:ext uri="{FF2B5EF4-FFF2-40B4-BE49-F238E27FC236}">
                <a16:creationId xmlns:a16="http://schemas.microsoft.com/office/drawing/2014/main" id="{9E20F34E-B0FA-14F6-36FF-387C099573D8}"/>
              </a:ext>
            </a:extLst>
          </p:cNvPr>
          <p:cNvPicPr>
            <a:picLocks noChangeAspect="1"/>
          </p:cNvPicPr>
          <p:nvPr/>
        </p:nvPicPr>
        <p:blipFill>
          <a:blip r:embed="rId3"/>
          <a:stretch>
            <a:fillRect/>
          </a:stretch>
        </p:blipFill>
        <p:spPr>
          <a:xfrm>
            <a:off x="6862154" y="1867583"/>
            <a:ext cx="4582164" cy="3629532"/>
          </a:xfrm>
          <a:prstGeom prst="rect">
            <a:avLst/>
          </a:prstGeom>
        </p:spPr>
      </p:pic>
    </p:spTree>
    <p:extLst>
      <p:ext uri="{BB962C8B-B14F-4D97-AF65-F5344CB8AC3E}">
        <p14:creationId xmlns:p14="http://schemas.microsoft.com/office/powerpoint/2010/main" val="41341169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178BF-7776-A09A-9556-304D6A45C15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B6541C-24CE-A20B-869E-A59345C1E882}"/>
              </a:ext>
            </a:extLst>
          </p:cNvPr>
          <p:cNvSpPr>
            <a:spLocks noGrp="1"/>
          </p:cNvSpPr>
          <p:nvPr>
            <p:ph sz="half" idx="1"/>
          </p:nvPr>
        </p:nvSpPr>
        <p:spPr>
          <a:xfrm>
            <a:off x="558367" y="1099127"/>
            <a:ext cx="5463743" cy="5166447"/>
          </a:xfrm>
        </p:spPr>
        <p:txBody>
          <a:bodyPr/>
          <a:lstStyle/>
          <a:p>
            <a:r>
              <a:rPr lang="en-US" dirty="0"/>
              <a:t>Is there a relationship between gross tertiary education enrollment and the number of YouTube channels in a country?</a:t>
            </a:r>
            <a:endParaRPr lang="en-IN" dirty="0"/>
          </a:p>
          <a:p>
            <a:endParaRPr lang="en-IN" dirty="0"/>
          </a:p>
        </p:txBody>
      </p:sp>
      <p:sp>
        <p:nvSpPr>
          <p:cNvPr id="4" name="Content Placeholder 3">
            <a:extLst>
              <a:ext uri="{FF2B5EF4-FFF2-40B4-BE49-F238E27FC236}">
                <a16:creationId xmlns:a16="http://schemas.microsoft.com/office/drawing/2014/main" id="{998E3A0D-BA47-6A21-96DC-3753689873DD}"/>
              </a:ext>
            </a:extLst>
          </p:cNvPr>
          <p:cNvSpPr>
            <a:spLocks noGrp="1"/>
          </p:cNvSpPr>
          <p:nvPr>
            <p:ph sz="half" idx="2"/>
          </p:nvPr>
        </p:nvSpPr>
        <p:spPr>
          <a:xfrm>
            <a:off x="6238085" y="1099126"/>
            <a:ext cx="5463742" cy="5166447"/>
          </a:xfrm>
        </p:spPr>
        <p:txBody>
          <a:bodyPr/>
          <a:lstStyle/>
          <a:p>
            <a:r>
              <a:rPr lang="en-US" dirty="0"/>
              <a:t>How does the unemployment rate vary among the top 10 countries with the highest number of YouTube channels?</a:t>
            </a:r>
            <a:endParaRPr lang="en-IN" dirty="0"/>
          </a:p>
          <a:p>
            <a:endParaRPr lang="en-IN" dirty="0"/>
          </a:p>
        </p:txBody>
      </p:sp>
      <p:pic>
        <p:nvPicPr>
          <p:cNvPr id="7" name="Picture 6">
            <a:extLst>
              <a:ext uri="{FF2B5EF4-FFF2-40B4-BE49-F238E27FC236}">
                <a16:creationId xmlns:a16="http://schemas.microsoft.com/office/drawing/2014/main" id="{A1996645-0DB7-4CBC-208A-282F35E929F5}"/>
              </a:ext>
            </a:extLst>
          </p:cNvPr>
          <p:cNvPicPr>
            <a:picLocks noChangeAspect="1"/>
          </p:cNvPicPr>
          <p:nvPr/>
        </p:nvPicPr>
        <p:blipFill>
          <a:blip r:embed="rId2"/>
          <a:stretch>
            <a:fillRect/>
          </a:stretch>
        </p:blipFill>
        <p:spPr>
          <a:xfrm>
            <a:off x="1473603" y="2454252"/>
            <a:ext cx="3333203" cy="519857"/>
          </a:xfrm>
          <a:prstGeom prst="rect">
            <a:avLst/>
          </a:prstGeom>
        </p:spPr>
      </p:pic>
      <p:pic>
        <p:nvPicPr>
          <p:cNvPr id="9" name="Picture 8">
            <a:extLst>
              <a:ext uri="{FF2B5EF4-FFF2-40B4-BE49-F238E27FC236}">
                <a16:creationId xmlns:a16="http://schemas.microsoft.com/office/drawing/2014/main" id="{4F58CC47-DA93-5629-8930-4CFB6FD53B7B}"/>
              </a:ext>
            </a:extLst>
          </p:cNvPr>
          <p:cNvPicPr>
            <a:picLocks noChangeAspect="1"/>
          </p:cNvPicPr>
          <p:nvPr/>
        </p:nvPicPr>
        <p:blipFill>
          <a:blip r:embed="rId3"/>
          <a:stretch>
            <a:fillRect/>
          </a:stretch>
        </p:blipFill>
        <p:spPr>
          <a:xfrm>
            <a:off x="7766327" y="2177189"/>
            <a:ext cx="2219635" cy="3010320"/>
          </a:xfrm>
          <a:prstGeom prst="rect">
            <a:avLst/>
          </a:prstGeom>
        </p:spPr>
      </p:pic>
    </p:spTree>
    <p:extLst>
      <p:ext uri="{BB962C8B-B14F-4D97-AF65-F5344CB8AC3E}">
        <p14:creationId xmlns:p14="http://schemas.microsoft.com/office/powerpoint/2010/main" val="2682580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0CE13-C63F-E30B-809B-DC8C0212253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ABD81D-599B-B320-2899-38952C6F3076}"/>
              </a:ext>
            </a:extLst>
          </p:cNvPr>
          <p:cNvSpPr>
            <a:spLocks noGrp="1"/>
          </p:cNvSpPr>
          <p:nvPr>
            <p:ph sz="half" idx="1"/>
          </p:nvPr>
        </p:nvSpPr>
        <p:spPr>
          <a:xfrm>
            <a:off x="558367" y="1099127"/>
            <a:ext cx="5463743" cy="5166447"/>
          </a:xfrm>
        </p:spPr>
        <p:txBody>
          <a:bodyPr/>
          <a:lstStyle/>
          <a:p>
            <a:r>
              <a:rPr lang="en-US" dirty="0"/>
              <a:t>What is the average urban population percentage in countries with YouTube channels?</a:t>
            </a:r>
            <a:endParaRPr lang="en-IN" dirty="0"/>
          </a:p>
          <a:p>
            <a:endParaRPr lang="en-IN" dirty="0"/>
          </a:p>
        </p:txBody>
      </p:sp>
      <p:sp>
        <p:nvSpPr>
          <p:cNvPr id="4" name="Content Placeholder 3">
            <a:extLst>
              <a:ext uri="{FF2B5EF4-FFF2-40B4-BE49-F238E27FC236}">
                <a16:creationId xmlns:a16="http://schemas.microsoft.com/office/drawing/2014/main" id="{36E3C8E1-0BA1-714E-59CF-D566C11C958A}"/>
              </a:ext>
            </a:extLst>
          </p:cNvPr>
          <p:cNvSpPr>
            <a:spLocks noGrp="1"/>
          </p:cNvSpPr>
          <p:nvPr>
            <p:ph sz="half" idx="2"/>
          </p:nvPr>
        </p:nvSpPr>
        <p:spPr>
          <a:xfrm>
            <a:off x="6238085" y="1099126"/>
            <a:ext cx="5463742" cy="5166447"/>
          </a:xfrm>
        </p:spPr>
        <p:txBody>
          <a:bodyPr/>
          <a:lstStyle/>
          <a:p>
            <a:r>
              <a:rPr lang="en-US" dirty="0"/>
              <a:t>Are there any patterns in the distribution of YouTube channels based on latitude and longitude coordinates?</a:t>
            </a:r>
            <a:endParaRPr lang="en-IN" dirty="0"/>
          </a:p>
          <a:p>
            <a:endParaRPr lang="en-IN" dirty="0"/>
          </a:p>
        </p:txBody>
      </p:sp>
      <p:pic>
        <p:nvPicPr>
          <p:cNvPr id="5" name="Picture 4">
            <a:extLst>
              <a:ext uri="{FF2B5EF4-FFF2-40B4-BE49-F238E27FC236}">
                <a16:creationId xmlns:a16="http://schemas.microsoft.com/office/drawing/2014/main" id="{9B7DC30D-9790-98BC-4F9B-E136E990D288}"/>
              </a:ext>
            </a:extLst>
          </p:cNvPr>
          <p:cNvPicPr>
            <a:picLocks noChangeAspect="1"/>
          </p:cNvPicPr>
          <p:nvPr/>
        </p:nvPicPr>
        <p:blipFill>
          <a:blip r:embed="rId2"/>
          <a:stretch>
            <a:fillRect/>
          </a:stretch>
        </p:blipFill>
        <p:spPr>
          <a:xfrm>
            <a:off x="444860" y="2287708"/>
            <a:ext cx="2826327" cy="687485"/>
          </a:xfrm>
          <a:prstGeom prst="rect">
            <a:avLst/>
          </a:prstGeom>
        </p:spPr>
      </p:pic>
      <p:pic>
        <p:nvPicPr>
          <p:cNvPr id="7" name="Picture 6">
            <a:extLst>
              <a:ext uri="{FF2B5EF4-FFF2-40B4-BE49-F238E27FC236}">
                <a16:creationId xmlns:a16="http://schemas.microsoft.com/office/drawing/2014/main" id="{14B3F3AE-63A6-CC46-461C-58F7D50FE331}"/>
              </a:ext>
            </a:extLst>
          </p:cNvPr>
          <p:cNvPicPr>
            <a:picLocks noChangeAspect="1"/>
          </p:cNvPicPr>
          <p:nvPr/>
        </p:nvPicPr>
        <p:blipFill>
          <a:blip r:embed="rId3"/>
          <a:srcRect l="35131" r="25764"/>
          <a:stretch>
            <a:fillRect/>
          </a:stretch>
        </p:blipFill>
        <p:spPr>
          <a:xfrm>
            <a:off x="5458691" y="2467583"/>
            <a:ext cx="1765762" cy="3696216"/>
          </a:xfrm>
          <a:prstGeom prst="rect">
            <a:avLst/>
          </a:prstGeom>
        </p:spPr>
      </p:pic>
      <p:pic>
        <p:nvPicPr>
          <p:cNvPr id="9" name="Picture 8">
            <a:extLst>
              <a:ext uri="{FF2B5EF4-FFF2-40B4-BE49-F238E27FC236}">
                <a16:creationId xmlns:a16="http://schemas.microsoft.com/office/drawing/2014/main" id="{36AF0D32-C249-0410-F5A2-38C8A8F41A09}"/>
              </a:ext>
            </a:extLst>
          </p:cNvPr>
          <p:cNvPicPr>
            <a:picLocks noChangeAspect="1"/>
          </p:cNvPicPr>
          <p:nvPr/>
        </p:nvPicPr>
        <p:blipFill>
          <a:blip r:embed="rId4"/>
          <a:stretch>
            <a:fillRect/>
          </a:stretch>
        </p:blipFill>
        <p:spPr>
          <a:xfrm>
            <a:off x="7440427" y="2467583"/>
            <a:ext cx="4583698" cy="3696216"/>
          </a:xfrm>
          <a:prstGeom prst="rect">
            <a:avLst/>
          </a:prstGeom>
        </p:spPr>
      </p:pic>
    </p:spTree>
    <p:extLst>
      <p:ext uri="{BB962C8B-B14F-4D97-AF65-F5344CB8AC3E}">
        <p14:creationId xmlns:p14="http://schemas.microsoft.com/office/powerpoint/2010/main" val="15857225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ECE74-071F-8A9B-571A-FAF47570187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F6485B-4E9E-0526-7290-A75166AE6839}"/>
              </a:ext>
            </a:extLst>
          </p:cNvPr>
          <p:cNvSpPr>
            <a:spLocks noGrp="1"/>
          </p:cNvSpPr>
          <p:nvPr>
            <p:ph sz="half" idx="1"/>
          </p:nvPr>
        </p:nvSpPr>
        <p:spPr>
          <a:xfrm>
            <a:off x="558367" y="1099127"/>
            <a:ext cx="5463743" cy="5166447"/>
          </a:xfrm>
        </p:spPr>
        <p:txBody>
          <a:bodyPr/>
          <a:lstStyle/>
          <a:p>
            <a:r>
              <a:rPr lang="en-US" dirty="0"/>
              <a:t>What is the correlation between the number of subscribers and the population of a country?</a:t>
            </a:r>
            <a:endParaRPr lang="en-IN" dirty="0"/>
          </a:p>
          <a:p>
            <a:endParaRPr lang="en-IN" dirty="0"/>
          </a:p>
        </p:txBody>
      </p:sp>
      <p:sp>
        <p:nvSpPr>
          <p:cNvPr id="4" name="Content Placeholder 3">
            <a:extLst>
              <a:ext uri="{FF2B5EF4-FFF2-40B4-BE49-F238E27FC236}">
                <a16:creationId xmlns:a16="http://schemas.microsoft.com/office/drawing/2014/main" id="{FCF39309-CD89-3B45-B47B-9C2D6B4CEE01}"/>
              </a:ext>
            </a:extLst>
          </p:cNvPr>
          <p:cNvSpPr>
            <a:spLocks noGrp="1"/>
          </p:cNvSpPr>
          <p:nvPr>
            <p:ph sz="half" idx="2"/>
          </p:nvPr>
        </p:nvSpPr>
        <p:spPr>
          <a:xfrm>
            <a:off x="6238085" y="1099126"/>
            <a:ext cx="5463742" cy="5166447"/>
          </a:xfrm>
        </p:spPr>
        <p:txBody>
          <a:bodyPr/>
          <a:lstStyle/>
          <a:p>
            <a:r>
              <a:rPr lang="en-US" dirty="0"/>
              <a:t>How do the top 10 countries with the highest number of YouTube channels compare in terms of their total population?</a:t>
            </a:r>
            <a:endParaRPr lang="en-IN" dirty="0"/>
          </a:p>
          <a:p>
            <a:endParaRPr lang="en-IN" dirty="0"/>
          </a:p>
        </p:txBody>
      </p:sp>
      <p:pic>
        <p:nvPicPr>
          <p:cNvPr id="5" name="Picture 4">
            <a:extLst>
              <a:ext uri="{FF2B5EF4-FFF2-40B4-BE49-F238E27FC236}">
                <a16:creationId xmlns:a16="http://schemas.microsoft.com/office/drawing/2014/main" id="{9FC98C5F-E20F-A136-29F8-E1AAFFDE6CF7}"/>
              </a:ext>
            </a:extLst>
          </p:cNvPr>
          <p:cNvPicPr>
            <a:picLocks noChangeAspect="1"/>
          </p:cNvPicPr>
          <p:nvPr/>
        </p:nvPicPr>
        <p:blipFill>
          <a:blip r:embed="rId2"/>
          <a:stretch>
            <a:fillRect/>
          </a:stretch>
        </p:blipFill>
        <p:spPr>
          <a:xfrm>
            <a:off x="1495264" y="2361019"/>
            <a:ext cx="3708521" cy="557672"/>
          </a:xfrm>
          <a:prstGeom prst="rect">
            <a:avLst/>
          </a:prstGeom>
        </p:spPr>
      </p:pic>
      <p:pic>
        <p:nvPicPr>
          <p:cNvPr id="7" name="Picture 6">
            <a:extLst>
              <a:ext uri="{FF2B5EF4-FFF2-40B4-BE49-F238E27FC236}">
                <a16:creationId xmlns:a16="http://schemas.microsoft.com/office/drawing/2014/main" id="{E89D825A-807A-E0CA-4AA7-58AAF956DF55}"/>
              </a:ext>
            </a:extLst>
          </p:cNvPr>
          <p:cNvPicPr>
            <a:picLocks noChangeAspect="1"/>
          </p:cNvPicPr>
          <p:nvPr/>
        </p:nvPicPr>
        <p:blipFill>
          <a:blip r:embed="rId3"/>
          <a:stretch>
            <a:fillRect/>
          </a:stretch>
        </p:blipFill>
        <p:spPr>
          <a:xfrm>
            <a:off x="7840923" y="2292962"/>
            <a:ext cx="2476846" cy="3639058"/>
          </a:xfrm>
          <a:prstGeom prst="rect">
            <a:avLst/>
          </a:prstGeom>
        </p:spPr>
      </p:pic>
    </p:spTree>
    <p:extLst>
      <p:ext uri="{BB962C8B-B14F-4D97-AF65-F5344CB8AC3E}">
        <p14:creationId xmlns:p14="http://schemas.microsoft.com/office/powerpoint/2010/main" val="2035182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5A0A9-6B80-E57E-A4AC-E507A2B8FD4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65E053-17B5-BA13-6F27-1A72337B2A81}"/>
              </a:ext>
            </a:extLst>
          </p:cNvPr>
          <p:cNvSpPr>
            <a:spLocks noGrp="1"/>
          </p:cNvSpPr>
          <p:nvPr>
            <p:ph sz="half" idx="1"/>
          </p:nvPr>
        </p:nvSpPr>
        <p:spPr>
          <a:xfrm>
            <a:off x="558367" y="1099127"/>
            <a:ext cx="5463743" cy="5166447"/>
          </a:xfrm>
        </p:spPr>
        <p:txBody>
          <a:bodyPr/>
          <a:lstStyle/>
          <a:p>
            <a:r>
              <a:rPr lang="en-US" dirty="0"/>
              <a:t>Is there a correlation between the number of subscribers gained in the last 30 days and the unemployment rate in a country?</a:t>
            </a:r>
            <a:endParaRPr lang="en-IN" dirty="0"/>
          </a:p>
          <a:p>
            <a:endParaRPr lang="en-IN" dirty="0"/>
          </a:p>
        </p:txBody>
      </p:sp>
      <p:sp>
        <p:nvSpPr>
          <p:cNvPr id="4" name="Content Placeholder 3">
            <a:extLst>
              <a:ext uri="{FF2B5EF4-FFF2-40B4-BE49-F238E27FC236}">
                <a16:creationId xmlns:a16="http://schemas.microsoft.com/office/drawing/2014/main" id="{7EB4513A-5AAA-845A-149D-E966F10FF153}"/>
              </a:ext>
            </a:extLst>
          </p:cNvPr>
          <p:cNvSpPr>
            <a:spLocks noGrp="1"/>
          </p:cNvSpPr>
          <p:nvPr>
            <p:ph sz="half" idx="2"/>
          </p:nvPr>
        </p:nvSpPr>
        <p:spPr>
          <a:xfrm>
            <a:off x="6238085" y="1099126"/>
            <a:ext cx="5463742" cy="5166447"/>
          </a:xfrm>
        </p:spPr>
        <p:txBody>
          <a:bodyPr/>
          <a:lstStyle/>
          <a:p>
            <a:r>
              <a:rPr lang="en-US" dirty="0"/>
              <a:t>How does the distribution of video views for the last 30 days vary across different channel types?</a:t>
            </a:r>
            <a:endParaRPr lang="en-IN" dirty="0"/>
          </a:p>
          <a:p>
            <a:endParaRPr lang="en-IN" dirty="0"/>
          </a:p>
        </p:txBody>
      </p:sp>
      <p:pic>
        <p:nvPicPr>
          <p:cNvPr id="5" name="Picture 4">
            <a:extLst>
              <a:ext uri="{FF2B5EF4-FFF2-40B4-BE49-F238E27FC236}">
                <a16:creationId xmlns:a16="http://schemas.microsoft.com/office/drawing/2014/main" id="{51A88A5C-A212-EEE0-8B73-9CC6F4F2E933}"/>
              </a:ext>
            </a:extLst>
          </p:cNvPr>
          <p:cNvPicPr>
            <a:picLocks noChangeAspect="1"/>
          </p:cNvPicPr>
          <p:nvPr/>
        </p:nvPicPr>
        <p:blipFill>
          <a:blip r:embed="rId2"/>
          <a:stretch>
            <a:fillRect/>
          </a:stretch>
        </p:blipFill>
        <p:spPr>
          <a:xfrm>
            <a:off x="1105241" y="2527273"/>
            <a:ext cx="3879418" cy="520727"/>
          </a:xfrm>
          <a:prstGeom prst="rect">
            <a:avLst/>
          </a:prstGeom>
        </p:spPr>
      </p:pic>
      <p:pic>
        <p:nvPicPr>
          <p:cNvPr id="7" name="Picture 6">
            <a:extLst>
              <a:ext uri="{FF2B5EF4-FFF2-40B4-BE49-F238E27FC236}">
                <a16:creationId xmlns:a16="http://schemas.microsoft.com/office/drawing/2014/main" id="{24B7B630-BA93-50FD-5CD8-BBD6C8ACAF27}"/>
              </a:ext>
            </a:extLst>
          </p:cNvPr>
          <p:cNvPicPr>
            <a:picLocks noChangeAspect="1"/>
          </p:cNvPicPr>
          <p:nvPr/>
        </p:nvPicPr>
        <p:blipFill>
          <a:blip r:embed="rId3"/>
          <a:stretch>
            <a:fillRect/>
          </a:stretch>
        </p:blipFill>
        <p:spPr>
          <a:xfrm>
            <a:off x="6701209" y="2274469"/>
            <a:ext cx="4755287" cy="3484405"/>
          </a:xfrm>
          <a:prstGeom prst="rect">
            <a:avLst/>
          </a:prstGeom>
        </p:spPr>
      </p:pic>
    </p:spTree>
    <p:extLst>
      <p:ext uri="{BB962C8B-B14F-4D97-AF65-F5344CB8AC3E}">
        <p14:creationId xmlns:p14="http://schemas.microsoft.com/office/powerpoint/2010/main" val="25674734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C594E-3418-0543-42B0-C0A29DDB9D7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802A96-D81C-E8BA-BA8B-1D9103B6B69B}"/>
              </a:ext>
            </a:extLst>
          </p:cNvPr>
          <p:cNvSpPr>
            <a:spLocks noGrp="1"/>
          </p:cNvSpPr>
          <p:nvPr>
            <p:ph sz="half" idx="1"/>
          </p:nvPr>
        </p:nvSpPr>
        <p:spPr>
          <a:xfrm>
            <a:off x="558367" y="1099127"/>
            <a:ext cx="5463743" cy="5166447"/>
          </a:xfrm>
        </p:spPr>
        <p:txBody>
          <a:bodyPr/>
          <a:lstStyle/>
          <a:p>
            <a:r>
              <a:rPr lang="en-US" dirty="0"/>
              <a:t>Are there any seasonal trends in the number of videos uploaded by YouTube channels?</a:t>
            </a:r>
            <a:endParaRPr lang="en-IN" dirty="0"/>
          </a:p>
          <a:p>
            <a:endParaRPr lang="en-IN" dirty="0"/>
          </a:p>
        </p:txBody>
      </p:sp>
      <p:sp>
        <p:nvSpPr>
          <p:cNvPr id="4" name="Content Placeholder 3">
            <a:extLst>
              <a:ext uri="{FF2B5EF4-FFF2-40B4-BE49-F238E27FC236}">
                <a16:creationId xmlns:a16="http://schemas.microsoft.com/office/drawing/2014/main" id="{7C0EF6E8-3B40-1CB5-8925-3714F2E69E92}"/>
              </a:ext>
            </a:extLst>
          </p:cNvPr>
          <p:cNvSpPr>
            <a:spLocks noGrp="1"/>
          </p:cNvSpPr>
          <p:nvPr>
            <p:ph sz="half" idx="2"/>
          </p:nvPr>
        </p:nvSpPr>
        <p:spPr>
          <a:xfrm>
            <a:off x="6238085" y="1099126"/>
            <a:ext cx="5463742" cy="5166447"/>
          </a:xfrm>
        </p:spPr>
        <p:txBody>
          <a:bodyPr/>
          <a:lstStyle/>
          <a:p>
            <a:r>
              <a:rPr lang="en-US" dirty="0"/>
              <a:t>What is the average number of subscribers gained per month since the creation of YouTube channels till now?</a:t>
            </a:r>
            <a:endParaRPr lang="en-IN" dirty="0"/>
          </a:p>
          <a:p>
            <a:endParaRPr lang="en-IN" dirty="0"/>
          </a:p>
        </p:txBody>
      </p:sp>
      <p:pic>
        <p:nvPicPr>
          <p:cNvPr id="5" name="Picture 4">
            <a:extLst>
              <a:ext uri="{FF2B5EF4-FFF2-40B4-BE49-F238E27FC236}">
                <a16:creationId xmlns:a16="http://schemas.microsoft.com/office/drawing/2014/main" id="{E4ED7602-116E-5B72-4C09-93413611F174}"/>
              </a:ext>
            </a:extLst>
          </p:cNvPr>
          <p:cNvPicPr>
            <a:picLocks noChangeAspect="1"/>
          </p:cNvPicPr>
          <p:nvPr/>
        </p:nvPicPr>
        <p:blipFill>
          <a:blip r:embed="rId2"/>
          <a:stretch>
            <a:fillRect/>
          </a:stretch>
        </p:blipFill>
        <p:spPr>
          <a:xfrm>
            <a:off x="1338437" y="2205768"/>
            <a:ext cx="3696216" cy="2953162"/>
          </a:xfrm>
          <a:prstGeom prst="rect">
            <a:avLst/>
          </a:prstGeom>
        </p:spPr>
      </p:pic>
      <p:pic>
        <p:nvPicPr>
          <p:cNvPr id="7" name="Picture 6">
            <a:extLst>
              <a:ext uri="{FF2B5EF4-FFF2-40B4-BE49-F238E27FC236}">
                <a16:creationId xmlns:a16="http://schemas.microsoft.com/office/drawing/2014/main" id="{A69F60B9-B153-19D2-D5F0-F971292C0C65}"/>
              </a:ext>
            </a:extLst>
          </p:cNvPr>
          <p:cNvPicPr>
            <a:picLocks noChangeAspect="1"/>
          </p:cNvPicPr>
          <p:nvPr/>
        </p:nvPicPr>
        <p:blipFill>
          <a:blip r:embed="rId3"/>
          <a:stretch>
            <a:fillRect/>
          </a:stretch>
        </p:blipFill>
        <p:spPr>
          <a:xfrm>
            <a:off x="7527273" y="2435199"/>
            <a:ext cx="3241627" cy="492728"/>
          </a:xfrm>
          <a:prstGeom prst="rect">
            <a:avLst/>
          </a:prstGeom>
        </p:spPr>
      </p:pic>
    </p:spTree>
    <p:extLst>
      <p:ext uri="{BB962C8B-B14F-4D97-AF65-F5344CB8AC3E}">
        <p14:creationId xmlns:p14="http://schemas.microsoft.com/office/powerpoint/2010/main" val="3850532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7128E-C3F7-A1A0-F443-21CF2ECD427C}"/>
              </a:ext>
            </a:extLst>
          </p:cNvPr>
          <p:cNvSpPr>
            <a:spLocks noGrp="1"/>
          </p:cNvSpPr>
          <p:nvPr>
            <p:ph type="title"/>
          </p:nvPr>
        </p:nvSpPr>
        <p:spPr/>
        <p:txBody>
          <a:bodyPr/>
          <a:lstStyle/>
          <a:p>
            <a:r>
              <a:rPr lang="en-IN" dirty="0"/>
              <a:t>Insights</a:t>
            </a:r>
          </a:p>
        </p:txBody>
      </p:sp>
      <p:sp>
        <p:nvSpPr>
          <p:cNvPr id="3" name="Content Placeholder 2">
            <a:extLst>
              <a:ext uri="{FF2B5EF4-FFF2-40B4-BE49-F238E27FC236}">
                <a16:creationId xmlns:a16="http://schemas.microsoft.com/office/drawing/2014/main" id="{0105F281-2B21-7F97-42D6-6DE67A1A6AEF}"/>
              </a:ext>
            </a:extLst>
          </p:cNvPr>
          <p:cNvSpPr>
            <a:spLocks noGrp="1"/>
          </p:cNvSpPr>
          <p:nvPr>
            <p:ph idx="1"/>
          </p:nvPr>
        </p:nvSpPr>
        <p:spPr>
          <a:xfrm>
            <a:off x="875201" y="1331259"/>
            <a:ext cx="9951295" cy="4914093"/>
          </a:xfrm>
        </p:spPr>
        <p:txBody>
          <a:bodyPr>
            <a:normAutofit/>
          </a:bodyPr>
          <a:lstStyle/>
          <a:p>
            <a:r>
              <a:rPr lang="en-IN" dirty="0"/>
              <a:t>From the analysis, I found that T‑Series and MrBeast are among the top channels globally. The Music and Entertainment categories have the highest average subscribers and views, showing that these genres attract the largest audiences. </a:t>
            </a:r>
          </a:p>
          <a:p>
            <a:r>
              <a:rPr lang="en-IN" dirty="0"/>
              <a:t>Countries like India and the United States dominate in terms of channel count and engagement. There is a weak correlation between uploads and views, meaning quality matters more than quantity.</a:t>
            </a:r>
          </a:p>
          <a:p>
            <a:r>
              <a:rPr lang="en-IN" dirty="0"/>
              <a:t> I also noticed that channels created earlier tend to have higher subscriber counts, showing long‑term growth advantage.</a:t>
            </a:r>
          </a:p>
        </p:txBody>
      </p:sp>
    </p:spTree>
    <p:extLst>
      <p:ext uri="{BB962C8B-B14F-4D97-AF65-F5344CB8AC3E}">
        <p14:creationId xmlns:p14="http://schemas.microsoft.com/office/powerpoint/2010/main" val="37637546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8F043-E312-5B87-B34E-5074D4228999}"/>
              </a:ext>
            </a:extLst>
          </p:cNvPr>
          <p:cNvSpPr>
            <a:spLocks noGrp="1"/>
          </p:cNvSpPr>
          <p:nvPr>
            <p:ph type="title"/>
          </p:nvPr>
        </p:nvSpPr>
        <p:spPr/>
        <p:txBody>
          <a:bodyPr/>
          <a:lstStyle/>
          <a:p>
            <a:r>
              <a:rPr lang="en-IN" dirty="0"/>
              <a:t>Learnings</a:t>
            </a:r>
          </a:p>
        </p:txBody>
      </p:sp>
      <p:sp>
        <p:nvSpPr>
          <p:cNvPr id="3" name="Content Placeholder 2">
            <a:extLst>
              <a:ext uri="{FF2B5EF4-FFF2-40B4-BE49-F238E27FC236}">
                <a16:creationId xmlns:a16="http://schemas.microsoft.com/office/drawing/2014/main" id="{64972888-DDA8-827E-0179-9A9C7F5A4B9F}"/>
              </a:ext>
            </a:extLst>
          </p:cNvPr>
          <p:cNvSpPr>
            <a:spLocks noGrp="1"/>
          </p:cNvSpPr>
          <p:nvPr>
            <p:ph idx="1"/>
          </p:nvPr>
        </p:nvSpPr>
        <p:spPr/>
        <p:txBody>
          <a:bodyPr/>
          <a:lstStyle/>
          <a:p>
            <a:r>
              <a:rPr lang="en-IN" dirty="0"/>
              <a:t>Through this project, I learned how to preprocess and </a:t>
            </a:r>
            <a:r>
              <a:rPr lang="en-IN" dirty="0" err="1"/>
              <a:t>analyze</a:t>
            </a:r>
            <a:r>
              <a:rPr lang="en-IN" dirty="0"/>
              <a:t> large datasets using Python. I understood how to use statistical functions and visualizations to interpret real‑world data.</a:t>
            </a:r>
          </a:p>
          <a:p>
            <a:r>
              <a:rPr lang="en-IN" dirty="0"/>
              <a:t>It taught me how different metrics—like subscribers, views, and earnings—can be connected to audience </a:t>
            </a:r>
            <a:r>
              <a:rPr lang="en-IN" dirty="0" err="1"/>
              <a:t>behavior</a:t>
            </a:r>
            <a:r>
              <a:rPr lang="en-IN" dirty="0"/>
              <a:t>. I also learned the importance of cleaning data and checking correlations before drawing conclusions. </a:t>
            </a:r>
          </a:p>
          <a:p>
            <a:r>
              <a:rPr lang="en-IN" dirty="0"/>
              <a:t>Overall, it improved my confidence in data analysis and visualization.</a:t>
            </a:r>
          </a:p>
          <a:p>
            <a:endParaRPr lang="en-IN" dirty="0"/>
          </a:p>
        </p:txBody>
      </p:sp>
    </p:spTree>
    <p:extLst>
      <p:ext uri="{BB962C8B-B14F-4D97-AF65-F5344CB8AC3E}">
        <p14:creationId xmlns:p14="http://schemas.microsoft.com/office/powerpoint/2010/main" val="26615544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8016A-55D1-5EB7-432E-CA036D3711E2}"/>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9F25BB6C-4932-A6F0-F05C-9B1FDCACD195}"/>
              </a:ext>
            </a:extLst>
          </p:cNvPr>
          <p:cNvSpPr>
            <a:spLocks noGrp="1"/>
          </p:cNvSpPr>
          <p:nvPr>
            <p:ph idx="1"/>
          </p:nvPr>
        </p:nvSpPr>
        <p:spPr>
          <a:xfrm>
            <a:off x="807749" y="1525224"/>
            <a:ext cx="10044978" cy="3988886"/>
          </a:xfrm>
        </p:spPr>
        <p:txBody>
          <a:bodyPr>
            <a:normAutofit/>
          </a:bodyPr>
          <a:lstStyle/>
          <a:p>
            <a:pPr marL="0" indent="0">
              <a:buNone/>
            </a:pPr>
            <a:r>
              <a:rPr lang="en-IN" dirty="0"/>
              <a:t>This project helped me understand the YouTube ecosystem from a data‑driven perspective. I concluded that success on YouTube depends on consistent engagement, content quality, and audience reach rather than just upload volume. </a:t>
            </a:r>
          </a:p>
          <a:p>
            <a:pPr marL="0" indent="0">
              <a:buNone/>
            </a:pPr>
            <a:r>
              <a:rPr lang="en-IN" dirty="0"/>
              <a:t>The Media &amp; Technology industry shows how analytics can guide creators and companies to make better decisions. T</a:t>
            </a:r>
          </a:p>
          <a:p>
            <a:pPr marL="0" indent="0">
              <a:buNone/>
            </a:pPr>
            <a:r>
              <a:rPr lang="en-IN" dirty="0"/>
              <a:t>his case study strengthened my analytical thinking and gave me practical experience in applying data science to real‑world problems.</a:t>
            </a:r>
          </a:p>
          <a:p>
            <a:pPr marL="0" indent="0">
              <a:buNone/>
            </a:pPr>
            <a:endParaRPr lang="en-IN" dirty="0"/>
          </a:p>
        </p:txBody>
      </p:sp>
    </p:spTree>
    <p:extLst>
      <p:ext uri="{BB962C8B-B14F-4D97-AF65-F5344CB8AC3E}">
        <p14:creationId xmlns:p14="http://schemas.microsoft.com/office/powerpoint/2010/main" val="72083471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EE5818"/>
      </a:dk2>
      <a:lt2>
        <a:srgbClr val="EBEBEB"/>
      </a:lt2>
      <a:accent1>
        <a:srgbClr val="F5A408"/>
      </a:accent1>
      <a:accent2>
        <a:srgbClr val="FA731A"/>
      </a:accent2>
      <a:accent3>
        <a:srgbClr val="AB9281"/>
      </a:accent3>
      <a:accent4>
        <a:srgbClr val="A18CD0"/>
      </a:accent4>
      <a:accent5>
        <a:srgbClr val="8EBBD2"/>
      </a:accent5>
      <a:accent6>
        <a:srgbClr val="ACC995"/>
      </a:accent6>
      <a:hlink>
        <a:srgbClr val="FAC96A"/>
      </a:hlink>
      <a:folHlink>
        <a:srgbClr val="FCDB9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04000"/>
                <a:satMod val="128000"/>
                <a:lumMod val="104000"/>
              </a:schemeClr>
            </a:gs>
            <a:gs pos="100000">
              <a:schemeClr val="phClr">
                <a:shade val="76000"/>
                <a:hueMod val="89000"/>
                <a:satMod val="164000"/>
                <a:lumMod val="68000"/>
              </a:schemeClr>
            </a:gs>
          </a:gsLst>
          <a:path path="circle">
            <a:fillToRect l="45000" t="65000" r="125000" b="100000"/>
          </a:path>
        </a:gradFill>
        <a:blipFill rotWithShape="1">
          <a:blip xmlns:r="http://schemas.openxmlformats.org/officeDocument/2006/relationships" r:embed="rId1">
            <a:duotone>
              <a:schemeClr val="phClr">
                <a:shade val="42000"/>
                <a:hueMod val="42000"/>
                <a:satMod val="124000"/>
                <a:lumMod val="62000"/>
              </a:schemeClr>
              <a:schemeClr val="phClr">
                <a:tint val="96000"/>
                <a:satMod val="130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5A2F9111-B2DB-470C-BA56-608F9B658826}"/>
    </a:ext>
  </a:extLst>
</a:theme>
</file>

<file path=docProps/app.xml><?xml version="1.0" encoding="utf-8"?>
<Properties xmlns="http://schemas.openxmlformats.org/officeDocument/2006/extended-properties" xmlns:vt="http://schemas.openxmlformats.org/officeDocument/2006/docPropsVTypes">
  <Template>Ion</Template>
  <TotalTime>51</TotalTime>
  <Words>793</Words>
  <Application>Microsoft Office PowerPoint</Application>
  <PresentationFormat>Widescreen</PresentationFormat>
  <Paragraphs>49</Paragraphs>
  <Slides>16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Century Gothic</vt:lpstr>
      <vt:lpstr>Wingdings 3</vt:lpstr>
      <vt:lpstr>Ion</vt:lpstr>
      <vt:lpstr>Media &amp; Technology - real time data of YouTube and its content creators</vt:lpstr>
      <vt:lpstr>Introduction</vt:lpstr>
      <vt:lpstr>Steps taken</vt:lpstr>
      <vt:lpstr>Questions solved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Insights</vt:lpstr>
      <vt:lpstr>Learnings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Akshita S</dc:creator>
  <cp:lastModifiedBy>Akshita S</cp:lastModifiedBy>
  <cp:revision>2</cp:revision>
  <dcterms:created xsi:type="dcterms:W3CDTF">2026-06-16T19:22:21Z</dcterms:created>
  <dcterms:modified xsi:type="dcterms:W3CDTF">2026-07-09T11:31:09Z</dcterms:modified>
</cp:coreProperties>
</file>